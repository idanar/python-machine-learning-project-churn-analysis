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2" r:id="rId12"/>
    <p:sldId id="273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A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4660"/>
  </p:normalViewPr>
  <p:slideViewPr>
    <p:cSldViewPr snapToGrid="0">
      <p:cViewPr varScale="1">
        <p:scale>
          <a:sx n="67" d="100"/>
          <a:sy n="67" d="100"/>
        </p:scale>
        <p:origin x="3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E777B-B32F-4B1B-AD98-BA809706E6B5}" type="datetimeFigureOut">
              <a:rPr lang="en-IL" smtClean="0"/>
              <a:t>21/05/2026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EE1C5-86FD-4C84-85D4-5A0C2B4C016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47185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EE1C5-86FD-4C84-85D4-5A0C2B4C0163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69273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03B57-88BE-F2DD-79DB-5153ED0D3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0063FF-EAFC-6ED9-7D56-47DC0F70C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DDB9C-1E2A-E47A-1D75-41E56F11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4DFD-1C09-4134-8E0A-6B80662D29C9}" type="datetimeFigureOut">
              <a:rPr lang="en-IL" smtClean="0"/>
              <a:t>21/05/2026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16D10-7C4D-7BB1-6F25-F06488281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EAF9F-30F7-72B5-BA9B-8AC2B1856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3B70-F523-4AD1-8F45-633A2962B9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094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AF880-CD91-F5BD-0112-539B59DF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7192D-1449-6935-D9F6-CE42585CD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A917A-06AD-39F8-84EC-3D89468D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4DFD-1C09-4134-8E0A-6B80662D29C9}" type="datetimeFigureOut">
              <a:rPr lang="en-IL" smtClean="0"/>
              <a:t>21/05/2026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7EE6D-1731-BA2E-0E91-2F4FAC98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2E18C-008B-36E1-9B7B-ABF2CDFFF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3B70-F523-4AD1-8F45-633A2962B9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40010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61D8D-F9DB-D938-22D4-EBEEDC2D0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19EE5-64AA-BCF3-565F-96007CFFF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E7143-268D-2AD2-F11A-88CAAE817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4DFD-1C09-4134-8E0A-6B80662D29C9}" type="datetimeFigureOut">
              <a:rPr lang="en-IL" smtClean="0"/>
              <a:t>21/05/2026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D1663-1CB9-90E7-CE77-F53DF5518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9D9E5-85A9-1C8E-C06C-032FDAD2D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3B70-F523-4AD1-8F45-633A2962B9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7642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A3BEE-855D-FD1C-992C-AB0D9B03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1C498-2E61-EACA-8D0F-D28219BE6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21F28-1A1B-932A-1886-BE1BABDD3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82113-FDEC-4D6A-01B4-F90E645C9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4DFD-1C09-4134-8E0A-6B80662D29C9}" type="datetimeFigureOut">
              <a:rPr lang="en-IL" smtClean="0"/>
              <a:t>21/05/2026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25DDA-489D-C328-B1FD-7F405344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A6448-2901-1316-81D0-0183D7C6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3B70-F523-4AD1-8F45-633A2962B9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0104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DA387-D219-4FB0-B620-1EADC97B2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09296-D088-D201-B29F-C4B03AB7D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3236B-3A76-E0EC-3C99-0C117D7F0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9E8070-BDAB-27EB-41A1-89D08C033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245AF4-076C-CF3B-D4D4-4F71056BE4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59C938-4006-5DD4-074C-954CA8267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4DFD-1C09-4134-8E0A-6B80662D29C9}" type="datetimeFigureOut">
              <a:rPr lang="en-IL" smtClean="0"/>
              <a:t>21/05/2026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09BF3-86E2-7C83-13E1-EF4193F0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451B1-DC96-3598-A195-DDA30EB4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3B70-F523-4AD1-8F45-633A2962B9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0540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AA8A2-D27B-CE6E-005B-B59AC42F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89E61-7A77-7F11-E791-735FC27DE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4DFD-1C09-4134-8E0A-6B80662D29C9}" type="datetimeFigureOut">
              <a:rPr lang="en-IL" smtClean="0"/>
              <a:t>21/05/2026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3FC1E-6D08-7ED3-0ADE-56F30D36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F8412-A934-EDF8-CB04-8A48B0909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3B70-F523-4AD1-8F45-633A2962B9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42780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318838-55C8-8AF2-4CA4-77DA7E504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4DFD-1C09-4134-8E0A-6B80662D29C9}" type="datetimeFigureOut">
              <a:rPr lang="en-IL" smtClean="0"/>
              <a:t>21/05/2026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FC5A8-20FE-106E-6661-92E90C466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56630-E0F7-95C8-4569-CAF3468B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3B70-F523-4AD1-8F45-633A2962B9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469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26DA5-3F4E-FC35-3400-8EFC6165E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C6C40-C42A-FBBA-9D46-EF4E810C2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2608C-5A52-4F07-6E3F-71FB12160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1255F-AAD5-B6A4-3FE3-6538B455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4DFD-1C09-4134-8E0A-6B80662D29C9}" type="datetimeFigureOut">
              <a:rPr lang="en-IL" smtClean="0"/>
              <a:t>21/05/2026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2C333-6C14-F11A-FFBE-02043E19C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78CCA-0E7C-D43B-C8AB-360940665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3B70-F523-4AD1-8F45-633A2962B9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44412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A48BA-27F0-FEC6-CFD9-F706FEFB3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D169AC-E3D1-B52C-B2BD-27D2FE9EB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DFFF0-E30F-25ED-F288-9FF05A9BD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7CF4B-4998-9EC6-C059-D47902AF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4DFD-1C09-4134-8E0A-6B80662D29C9}" type="datetimeFigureOut">
              <a:rPr lang="en-IL" smtClean="0"/>
              <a:t>21/05/2026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884F6-A51B-3325-E17F-B21CC8553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5DF16-455C-6A6C-DC60-47A5BA90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3B70-F523-4AD1-8F45-633A2962B9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6153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421D3-8BBC-745E-F6B8-3584F2E3C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005C3-93FC-935C-A965-4A63F0CC2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A15AE-12DF-88FB-AD87-9BAF87ED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4DFD-1C09-4134-8E0A-6B80662D29C9}" type="datetimeFigureOut">
              <a:rPr lang="en-IL" smtClean="0"/>
              <a:t>21/05/2026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2C02B-6691-EC8A-B780-CF5CC96B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98B21-FDF1-0131-3067-CCF4442D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3B70-F523-4AD1-8F45-633A2962B9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7391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9D548A-07FF-FF7D-2D74-F26AE81B6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78CA38-5626-271D-5DD7-0E01167E8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A5321-67E1-315F-3620-90EFDDF2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4DFD-1C09-4134-8E0A-6B80662D29C9}" type="datetimeFigureOut">
              <a:rPr lang="en-IL" smtClean="0"/>
              <a:t>21/05/2026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79681-88C0-E072-1EB2-D9551745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DB862-00F5-3F81-8F70-8C0BF8C00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3B70-F523-4AD1-8F45-633A2962B9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254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6CB20B-8138-B14A-02D4-191100CEB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213A8-0E22-3889-B53E-A1DC8148C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09A91-E920-EFF4-8893-A0988D6BB6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A4DFD-1C09-4134-8E0A-6B80662D29C9}" type="datetimeFigureOut">
              <a:rPr lang="en-IL" smtClean="0"/>
              <a:t>21/05/2026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ED760-3A0C-4A4D-6997-17A4D6A23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01CCD-1BCD-0308-ED15-FED3895B7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BD3B70-F523-4AD1-8F45-633A2962B9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5096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6B6B"/>
                </a:solidFill>
                <a:latin typeface="Calibri"/>
              </a:rPr>
              <a:t>GenAI Course  ·  Technion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9090A8"/>
                </a:solidFill>
                <a:latin typeface="Calibri"/>
              </a:rPr>
              <a:t>ML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>
                <a:solidFill>
                  <a:srgbClr val="FF6B6B"/>
                </a:solidFill>
                <a:latin typeface="Calibri"/>
              </a:rPr>
              <a:t>Telecom Customer
Churn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3288" y="3108960"/>
            <a:ext cx="73152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9090A8"/>
                </a:solidFill>
                <a:latin typeface="Calibri"/>
              </a:rPr>
              <a:t>Predicting customer churn using three machine learning algorithms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3794760"/>
            <a:ext cx="1783080" cy="36576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64992" y="3822191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9090A8"/>
                </a:solidFill>
                <a:latin typeface="Calibri"/>
              </a:rPr>
              <a:t>Decision Tree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3794760"/>
            <a:ext cx="1783080" cy="36576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30952" y="3822191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FF6B6B"/>
                </a:solidFill>
                <a:latin typeface="Calibri"/>
              </a:rPr>
              <a:t>Random Forest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3794760"/>
            <a:ext cx="1783080" cy="36576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96912" y="3822191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9090A8"/>
                </a:solidFill>
                <a:latin typeface="Calibri"/>
              </a:rPr>
              <a:t>KNN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34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 dirty="0">
                <a:solidFill>
                  <a:srgbClr val="9090A8"/>
                </a:solidFill>
                <a:latin typeface="Calibri"/>
              </a:rPr>
              <a:t>Idan Arbel  ·  204344022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434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52538"/>
                </a:solidFill>
                <a:latin typeface="Calibri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434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090A8"/>
                </a:solidFill>
                <a:latin typeface="Calibri"/>
              </a:rPr>
              <a:t>Yovel Yefet  ·  318987815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53548"/>
                </a:solidFill>
                <a:latin typeface="Calibri"/>
              </a:rPr>
              <a:t>April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  <a:latin typeface="Calibri"/>
              </a:rPr>
              <a:t>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6B"/>
                </a:solidFill>
                <a:latin typeface="Calibri"/>
              </a:rPr>
              <a:t>What Are We Predicting &amp; Why?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3667658" cy="201168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41148" cy="2011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3933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Calibri"/>
              </a:rPr>
              <a:t>What We Predict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8"/>
            <a:ext cx="339333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Whether a telecom customer will CHURN (cancel subscription)
</a:t>
            </a:r>
            <a:r>
              <a:rPr lang="en-IL" sz="1000" b="0" i="0" dirty="0">
                <a:solidFill>
                  <a:srgbClr val="9090A8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a binary Yes / No classification task.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16298" y="1417320"/>
            <a:ext cx="3667658" cy="201168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16298" y="1417320"/>
            <a:ext cx="41148" cy="20116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99178" y="1554480"/>
            <a:ext cx="33933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CDC4"/>
                </a:solidFill>
                <a:latin typeface="Calibri"/>
              </a:rPr>
              <a:t>Available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9178" y="1892808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A8"/>
                </a:solidFill>
                <a:latin typeface="Calibri"/>
              </a:rPr>
              <a:t>7,043 customer records with 21 features:
demographics, services, contract details, and billing.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5396" y="1417320"/>
            <a:ext cx="3667658" cy="201168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75396" y="1417320"/>
            <a:ext cx="41148" cy="201168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8276" y="1554480"/>
            <a:ext cx="33933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347"/>
                </a:solidFill>
                <a:latin typeface="Calibri"/>
              </a:rPr>
              <a:t>Business Motivation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1892808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A8"/>
                </a:solidFill>
                <a:latin typeface="Calibri"/>
              </a:rPr>
              <a:t>Acquiring a new customer costs 5–10x more
than retaining one. Early detection enables
proactive retention incentives.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11185855" cy="50292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639312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A8"/>
                </a:solidFill>
                <a:latin typeface="Calibri"/>
              </a:rPr>
              <a:t>Key Input Features:   Contract Type  ·  Tenure  ·  Monthly Charges  ·  Internet Service  ·  Payment Method  ·  Senior Citizen  ·  Partner/Dependents  + 14 more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FF6B6B"/>
                </a:solidFill>
                <a:latin typeface="Calibri"/>
              </a:rP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6B6B"/>
                </a:solidFill>
                <a:latin typeface="Calibri"/>
              </a:rPr>
              <a:t>Scale, Structure &amp; Label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89888"/>
            <a:ext cx="2560320" cy="100584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8132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6B6B"/>
                </a:solidFill>
                <a:latin typeface="Calibri"/>
              </a:rPr>
              <a:t>7,043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84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9090A8"/>
                </a:solidFill>
                <a:latin typeface="Calibri"/>
              </a:rPr>
              <a:t>Customer Records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7248" y="1389888"/>
            <a:ext cx="2560320" cy="100584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27248" y="148132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6B6B"/>
                </a:solidFill>
                <a:latin typeface="Calibr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1984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A8"/>
                </a:solidFill>
                <a:latin typeface="Calibri"/>
              </a:rPr>
              <a:t>Raw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97296" y="1389888"/>
            <a:ext cx="2560320" cy="100584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97296" y="148132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4ECDC4"/>
                </a:solidFill>
                <a:latin typeface="Calibri"/>
              </a:rPr>
              <a:t>73.5%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7296" y="1984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A8"/>
                </a:solidFill>
                <a:latin typeface="Calibri"/>
              </a:rPr>
              <a:t>Retained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67344" y="1389888"/>
            <a:ext cx="2560320" cy="100584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67344" y="148132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6B6B"/>
                </a:solidFill>
                <a:latin typeface="Calibri"/>
              </a:rPr>
              <a:t>26.5%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1984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9090A8"/>
                </a:solidFill>
                <a:latin typeface="Calibri"/>
              </a:rPr>
              <a:t>Churned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78608"/>
            <a:ext cx="6858000" cy="114300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670048"/>
            <a:ext cx="6583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B347"/>
                </a:solidFill>
                <a:latin typeface="Calibri"/>
              </a:rPr>
              <a:t>Class Imbalance: 73.5% vs 26.5% </a:t>
            </a:r>
            <a:r>
              <a:rPr lang="en-IL" sz="1000" b="0" i="0" dirty="0">
                <a:solidFill>
                  <a:srgbClr val="FFB347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FFB347"/>
                </a:solidFill>
                <a:latin typeface="Calibri"/>
              </a:rPr>
              <a:t> stratified split preserves ratio in train/test.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80944"/>
            <a:ext cx="6583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Hidden Nulls: 11 whitespace entries in TotalCharges </a:t>
            </a:r>
            <a:r>
              <a:rPr lang="en-IL" sz="1000" b="0" i="0" dirty="0">
                <a:solidFill>
                  <a:srgbClr val="9090A8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imputed with MonthlyCharges.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291840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A8"/>
                </a:solidFill>
                <a:latin typeface="Calibri"/>
              </a:rPr>
              <a:t>Train / Test: 80% / 20% stratified   ·   Post-engineering shape: (7043, 28)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3 / 14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2C653AA-C92B-9B88-54BB-C17FC7D9D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4" y="2633472"/>
            <a:ext cx="3446796" cy="3490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6B"/>
                </a:solidFill>
                <a:latin typeface="Calibri"/>
              </a:rPr>
              <a:t>Six Key Insights from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89888"/>
            <a:ext cx="3667658" cy="182880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41148" cy="18288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33933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B347"/>
                </a:solidFill>
                <a:latin typeface="Calibri"/>
              </a:rPr>
              <a:t>CLASS IMBALANCE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33933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0F8"/>
                </a:solidFill>
                <a:latin typeface="Calibri"/>
              </a:rPr>
              <a:t>26.5%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393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of customers churn </a:t>
            </a:r>
            <a:r>
              <a:rPr lang="en-IL" sz="1000" b="0" i="0" dirty="0">
                <a:solidFill>
                  <a:srgbClr val="9090A8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stratified
sampling essential</a:t>
            </a:r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 to preserve class ratio</a:t>
            </a:r>
            <a:endParaRPr sz="1000" b="0" i="0" dirty="0">
              <a:solidFill>
                <a:srgbClr val="9090A8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16298" y="1389888"/>
            <a:ext cx="3667658" cy="182880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16298" y="1389888"/>
            <a:ext cx="41148" cy="1828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99178" y="1481328"/>
            <a:ext cx="33933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FF6B6B"/>
                </a:solidFill>
                <a:latin typeface="Calibri"/>
              </a:rPr>
              <a:t>CONTRACT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9178" y="1719072"/>
            <a:ext cx="33933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0F8"/>
                </a:solidFill>
                <a:latin typeface="Calibri"/>
              </a:rPr>
              <a:t>43%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9178" y="2240280"/>
            <a:ext cx="3393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C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hurn</a:t>
            </a:r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 rate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for month-to-mont</a:t>
            </a:r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h 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vs 11% yearly, 3% two-year</a:t>
            </a:r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. </a:t>
            </a:r>
            <a:r>
              <a:rPr lang="en-US" sz="1000" b="1" i="0" dirty="0">
                <a:solidFill>
                  <a:schemeClr val="bg1"/>
                </a:solidFill>
                <a:latin typeface="Calibri"/>
              </a:rPr>
              <a:t>Strong Predictor</a:t>
            </a:r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.</a:t>
            </a:r>
            <a:endParaRPr sz="1000" b="0" i="0" dirty="0">
              <a:solidFill>
                <a:srgbClr val="9090A8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75396" y="1389888"/>
            <a:ext cx="3667658" cy="182880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75396" y="1389888"/>
            <a:ext cx="41148" cy="1828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8276" y="1481328"/>
            <a:ext cx="33933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ECDC4"/>
                </a:solidFill>
                <a:latin typeface="Calibri"/>
              </a:rPr>
              <a:t>TENURE 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8276" y="1719072"/>
            <a:ext cx="33933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0F0F8"/>
                </a:solidFill>
                <a:latin typeface="Calibri"/>
              </a:rPr>
              <a:t>Declines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8276" y="2240280"/>
            <a:ext cx="339333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New customers (&lt;12 mo</a:t>
            </a:r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nths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) at</a:t>
            </a:r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highest risk</a:t>
            </a:r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.</a:t>
            </a:r>
          </a:p>
          <a:p>
            <a:pPr algn="l"/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Churn declines significantly with tenure.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Strong Predictor</a:t>
            </a:r>
            <a:r>
              <a:rPr lang="en-US" sz="1000" dirty="0">
                <a:solidFill>
                  <a:srgbClr val="9090A8"/>
                </a:solidFill>
              </a:rPr>
              <a:t>.</a:t>
            </a:r>
            <a:endParaRPr sz="1000" b="0" i="0" dirty="0">
              <a:solidFill>
                <a:srgbClr val="9090A8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3310128"/>
            <a:ext cx="3667658" cy="182880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310128"/>
            <a:ext cx="41148" cy="1828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401568"/>
            <a:ext cx="33933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6B"/>
                </a:solidFill>
                <a:latin typeface="Calibri"/>
              </a:rPr>
              <a:t>SENIOR CITIZENS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39312"/>
            <a:ext cx="33933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0F8"/>
                </a:solidFill>
                <a:latin typeface="Calibri"/>
              </a:rPr>
              <a:t>42%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60520"/>
            <a:ext cx="3393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churn </a:t>
            </a:r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rate 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vs 24% for non-seniors</a:t>
            </a:r>
            <a:r>
              <a:rPr lang="en-US" sz="1000" dirty="0">
                <a:solidFill>
                  <a:srgbClr val="9090A8"/>
                </a:solidFill>
                <a:latin typeface="Calibri"/>
              </a:rPr>
              <a:t>.</a:t>
            </a:r>
          </a:p>
          <a:p>
            <a:pPr algn="l"/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H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igh-risk segment</a:t>
            </a:r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 requires special attention</a:t>
            </a:r>
            <a:endParaRPr sz="1000" b="0" i="0" dirty="0">
              <a:solidFill>
                <a:srgbClr val="9090A8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216298" y="3310128"/>
            <a:ext cx="3667658" cy="182880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16298" y="3310128"/>
            <a:ext cx="41148" cy="18288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99178" y="3401568"/>
            <a:ext cx="33933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B347"/>
                </a:solidFill>
                <a:latin typeface="Calibri"/>
              </a:rPr>
              <a:t>INTERNET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9178" y="3639312"/>
            <a:ext cx="33933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0F8"/>
                </a:solidFill>
                <a:latin typeface="Calibri"/>
              </a:rPr>
              <a:t>42%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9178" y="4160520"/>
            <a:ext cx="33933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Fiber Optic vs 19% DSL</a:t>
            </a:r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and 7% no internet</a:t>
            </a:r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.</a:t>
            </a:r>
            <a:endParaRPr sz="1000" b="0" i="0" dirty="0">
              <a:solidFill>
                <a:srgbClr val="9090A8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975396" y="3310128"/>
            <a:ext cx="3667658" cy="182880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75396" y="3310128"/>
            <a:ext cx="41148" cy="1828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58276" y="3401568"/>
            <a:ext cx="33933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ECDC4"/>
                </a:solidFill>
                <a:latin typeface="Calibri"/>
              </a:rPr>
              <a:t>MONTHLY CHARGES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8276" y="3639312"/>
            <a:ext cx="339333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 dirty="0">
                <a:solidFill>
                  <a:srgbClr val="F0F0F8"/>
                </a:solidFill>
                <a:latin typeface="Calibri"/>
              </a:rPr>
              <a:t>Increases</a:t>
            </a:r>
            <a:endParaRPr sz="2200" b="1" i="0" dirty="0">
              <a:solidFill>
                <a:srgbClr val="F0F0F8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58276" y="4160520"/>
            <a:ext cx="33933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Higher charges correlate</a:t>
            </a:r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strongly with churn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54335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4 / 14</a:t>
            </a:r>
          </a:p>
        </p:txBody>
      </p:sp>
      <p:sp>
        <p:nvSpPr>
          <p:cNvPr id="35" name="Arrow: Up 34">
            <a:extLst>
              <a:ext uri="{FF2B5EF4-FFF2-40B4-BE49-F238E27FC236}">
                <a16:creationId xmlns:a16="http://schemas.microsoft.com/office/drawing/2014/main" id="{EB5CA707-A43C-5F62-1DA7-0E6DA9E4CBE7}"/>
              </a:ext>
            </a:extLst>
          </p:cNvPr>
          <p:cNvSpPr/>
          <p:nvPr/>
        </p:nvSpPr>
        <p:spPr>
          <a:xfrm>
            <a:off x="9280373" y="3539117"/>
            <a:ext cx="301162" cy="440761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7" name="Arrow: Up 36">
            <a:extLst>
              <a:ext uri="{FF2B5EF4-FFF2-40B4-BE49-F238E27FC236}">
                <a16:creationId xmlns:a16="http://schemas.microsoft.com/office/drawing/2014/main" id="{91B3E768-B7D3-1ED0-AE2F-0410C9A67CFC}"/>
              </a:ext>
            </a:extLst>
          </p:cNvPr>
          <p:cNvSpPr/>
          <p:nvPr/>
        </p:nvSpPr>
        <p:spPr>
          <a:xfrm rot="10800000">
            <a:off x="9280373" y="1690715"/>
            <a:ext cx="301162" cy="440761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  <a:latin typeface="Calibri"/>
              </a:rPr>
              <a:t>EDA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6B"/>
                </a:solidFill>
                <a:latin typeface="Calibri"/>
              </a:rPr>
              <a:t>Churn Rate by Contract &amp; Tenure Group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1396" y="1365018"/>
            <a:ext cx="5486400" cy="306725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1396" y="4572000"/>
            <a:ext cx="5486400" cy="621792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8556" y="4636008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Month-to-month customers have </a:t>
            </a:r>
            <a:r>
              <a:rPr sz="1000" b="0" i="0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~15x higher churn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than two-year holders.
Long-term commitment strongly reduces switching risk.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2061" y="1364400"/>
            <a:ext cx="6218290" cy="306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52061" y="4572000"/>
            <a:ext cx="6218290" cy="621792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221" y="4636008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First-year customers are the </a:t>
            </a:r>
            <a:r>
              <a:rPr sz="10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highest-risk segment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.
After 4+ years loyalty is deeply established and churn drops sharply.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  <a:latin typeface="Calibri"/>
              </a:rPr>
              <a:t>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6B6B"/>
                </a:solidFill>
                <a:latin typeface="Calibri"/>
              </a:rPr>
              <a:t>Transforming Raw Data into ML-Ready Features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53312"/>
          <a:ext cx="11274551" cy="309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354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chemeClr val="bg1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chemeClr val="bg1"/>
                          </a:solidFill>
                          <a:latin typeface="Calibri"/>
                        </a:rPr>
                        <a:t>Transformation</a:t>
                      </a:r>
                    </a:p>
                  </a:txBody>
                  <a:tcPr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chemeClr val="bg1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>
                    <a:solidFill>
                      <a:srgbClr val="1A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accent2"/>
                          </a:solidFill>
                          <a:latin typeface="Calibri"/>
                        </a:rPr>
                        <a:t>Drop</a:t>
                      </a:r>
                      <a:r>
                        <a:rPr sz="1000" b="0" dirty="0">
                          <a:solidFill>
                            <a:srgbClr val="F0F0F8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F0F0F8"/>
                          </a:solidFill>
                          <a:latin typeface="Calibri"/>
                        </a:rPr>
                        <a:t>customerID</a:t>
                      </a:r>
                      <a:endParaRPr sz="1000" b="0" dirty="0">
                        <a:solidFill>
                          <a:srgbClr val="F0F0F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Unique per row </a:t>
                      </a:r>
                      <a:r>
                        <a:rPr lang="en-IL"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-</a:t>
                      </a:r>
                      <a:r>
                        <a:rPr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 zero predictive signal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4ECDC4"/>
                          </a:solidFill>
                          <a:latin typeface="Calibri"/>
                        </a:rPr>
                        <a:t>−1 column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accent2"/>
                          </a:solidFill>
                          <a:latin typeface="Calibri"/>
                        </a:rPr>
                        <a:t>Drop</a:t>
                      </a:r>
                      <a:r>
                        <a:rPr sz="1000" b="0" dirty="0">
                          <a:solidFill>
                            <a:srgbClr val="F0F0F8"/>
                          </a:solidFill>
                          <a:latin typeface="Calibri"/>
                        </a:rPr>
                        <a:t> gender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Identical ~26% churn rate for M/F </a:t>
                      </a:r>
                      <a:r>
                        <a:rPr lang="en-IL"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-</a:t>
                      </a:r>
                      <a:r>
                        <a:rPr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 no predictive signal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4ECDC4"/>
                          </a:solidFill>
                          <a:latin typeface="Calibri"/>
                        </a:rPr>
                        <a:t>−1 column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Fix </a:t>
                      </a:r>
                      <a:r>
                        <a:rPr sz="1000" b="0" dirty="0">
                          <a:solidFill>
                            <a:srgbClr val="F0F0F8"/>
                          </a:solidFill>
                          <a:latin typeface="Calibri"/>
                        </a:rPr>
                        <a:t>Hidden Nulls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TotalCharges</a:t>
                      </a:r>
                      <a:r>
                        <a:rPr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 whitespace → </a:t>
                      </a:r>
                      <a:r>
                        <a:rPr sz="1000" b="0" dirty="0" err="1">
                          <a:solidFill>
                            <a:srgbClr val="9090A8"/>
                          </a:solidFill>
                          <a:latin typeface="Calibri"/>
                        </a:rPr>
                        <a:t>NaN</a:t>
                      </a:r>
                      <a:r>
                        <a:rPr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 → imputed with </a:t>
                      </a:r>
                      <a:r>
                        <a:rPr sz="1000" b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MonthlyCharges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4ECDC4"/>
                          </a:solidFill>
                          <a:latin typeface="Calibri"/>
                        </a:rPr>
                        <a:t>11 rows fixed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Encode</a:t>
                      </a:r>
                      <a:r>
                        <a:rPr sz="1000" b="0" dirty="0">
                          <a:solidFill>
                            <a:srgbClr val="F0F0F8"/>
                          </a:solidFill>
                          <a:latin typeface="Calibri"/>
                        </a:rPr>
                        <a:t> Binary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Yes/No → 1/0: Partner, Dependents, </a:t>
                      </a:r>
                      <a:r>
                        <a:rPr sz="1000" b="0" dirty="0" err="1">
                          <a:solidFill>
                            <a:srgbClr val="9090A8"/>
                          </a:solidFill>
                          <a:latin typeface="Calibri"/>
                        </a:rPr>
                        <a:t>PhoneService</a:t>
                      </a:r>
                      <a:r>
                        <a:rPr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, </a:t>
                      </a:r>
                      <a:r>
                        <a:rPr sz="1000" b="0" dirty="0" err="1">
                          <a:solidFill>
                            <a:srgbClr val="9090A8"/>
                          </a:solidFill>
                          <a:latin typeface="Calibri"/>
                        </a:rPr>
                        <a:t>PaperlessBilling</a:t>
                      </a:r>
                      <a:endParaRPr sz="1000" b="0" dirty="0">
                        <a:solidFill>
                          <a:srgbClr val="9090A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4ECDC4"/>
                          </a:solidFill>
                          <a:latin typeface="Calibri"/>
                        </a:rPr>
                        <a:t>4 columns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/>
                        </a:rPr>
                        <a:t>Engineer</a:t>
                      </a:r>
                      <a:r>
                        <a:rPr sz="1000" b="0" dirty="0">
                          <a:solidFill>
                            <a:srgbClr val="F0F0F8"/>
                          </a:solidFill>
                          <a:latin typeface="Calibri"/>
                        </a:rPr>
                        <a:t> Features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services_count</a:t>
                      </a:r>
                      <a:r>
                        <a:rPr sz="1000" b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(0-7) and </a:t>
                      </a:r>
                      <a:r>
                        <a:rPr sz="1000" b="0" dirty="0" err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TenureGroup</a:t>
                      </a:r>
                      <a:r>
                        <a:rPr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 (0-3) created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4ECDC4"/>
                          </a:solidFill>
                          <a:latin typeface="Calibri"/>
                        </a:rPr>
                        <a:t>+ </a:t>
                      </a:r>
                      <a:r>
                        <a:rPr lang="en-US" sz="1000" b="0" dirty="0">
                          <a:solidFill>
                            <a:srgbClr val="4ECDC4"/>
                          </a:solidFill>
                          <a:latin typeface="Calibri"/>
                        </a:rPr>
                        <a:t>2</a:t>
                      </a:r>
                      <a:r>
                        <a:rPr sz="1000" b="0" dirty="0">
                          <a:solidFill>
                            <a:srgbClr val="4ECDC4"/>
                          </a:solidFill>
                          <a:latin typeface="Calibri"/>
                        </a:rPr>
                        <a:t> new cols</a:t>
                      </a:r>
                      <a:r>
                        <a:rPr lang="en-US" sz="1000" b="0" dirty="0">
                          <a:solidFill>
                            <a:srgbClr val="4ECDC4"/>
                          </a:solidFill>
                          <a:latin typeface="Calibri"/>
                        </a:rPr>
                        <a:t> (next slide)</a:t>
                      </a:r>
                      <a:endParaRPr sz="1000" b="0" dirty="0">
                        <a:solidFill>
                          <a:srgbClr val="4ECDC4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212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356"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One-Hot</a:t>
                      </a:r>
                      <a:r>
                        <a:rPr sz="1000" b="0" dirty="0">
                          <a:solidFill>
                            <a:srgbClr val="F0F0F8"/>
                          </a:solidFill>
                          <a:latin typeface="Calibri"/>
                        </a:rPr>
                        <a:t> Encode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InternetService</a:t>
                      </a:r>
                      <a:r>
                        <a:rPr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, </a:t>
                      </a:r>
                      <a:r>
                        <a:rPr sz="1000" b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Contract</a:t>
                      </a:r>
                      <a:r>
                        <a:rPr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, </a:t>
                      </a:r>
                      <a:r>
                        <a:rPr sz="1000" b="0" dirty="0" err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PaymentMethod</a:t>
                      </a:r>
                      <a:r>
                        <a:rPr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, </a:t>
                      </a:r>
                      <a:r>
                        <a:rPr sz="1000" b="0" dirty="0" err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TenureGroup</a:t>
                      </a:r>
                      <a:endParaRPr sz="1000" b="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4ECDC4"/>
                          </a:solidFill>
                          <a:latin typeface="Calibri"/>
                        </a:rPr>
                        <a:t>+ </a:t>
                      </a:r>
                      <a:r>
                        <a:rPr lang="en-US" sz="1000" b="0" dirty="0">
                          <a:solidFill>
                            <a:srgbClr val="4ECDC4"/>
                          </a:solidFill>
                          <a:latin typeface="Calibri"/>
                        </a:rPr>
                        <a:t>14</a:t>
                      </a:r>
                      <a:r>
                        <a:rPr sz="1000" b="0" dirty="0">
                          <a:solidFill>
                            <a:srgbClr val="4ECDC4"/>
                          </a:solidFill>
                          <a:latin typeface="Calibri"/>
                        </a:rPr>
                        <a:t> dummy cols</a:t>
                      </a:r>
                      <a:r>
                        <a:rPr lang="en-US" sz="1000" b="0" dirty="0">
                          <a:solidFill>
                            <a:srgbClr val="4ECDC4"/>
                          </a:solidFill>
                          <a:latin typeface="Calibri"/>
                        </a:rPr>
                        <a:t> ( -4 attributes)</a:t>
                      </a:r>
                      <a:endParaRPr sz="1000" b="0" dirty="0">
                        <a:solidFill>
                          <a:srgbClr val="4ECDC4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35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accent2"/>
                          </a:solidFill>
                          <a:latin typeface="+mn-lt"/>
                        </a:rPr>
                        <a:t>Drop</a:t>
                      </a:r>
                      <a:r>
                        <a:rPr lang="en-US" sz="1000" b="0" dirty="0">
                          <a:solidFill>
                            <a:srgbClr val="F0F0F8"/>
                          </a:solidFill>
                          <a:latin typeface="+mn-lt"/>
                        </a:rPr>
                        <a:t> Tenure</a:t>
                      </a:r>
                    </a:p>
                    <a:p>
                      <a:endParaRPr sz="1000" b="0" dirty="0">
                        <a:solidFill>
                          <a:srgbClr val="F0F0F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kern="1200" dirty="0">
                          <a:solidFill>
                            <a:srgbClr val="9090A8"/>
                          </a:solidFill>
                          <a:latin typeface="Calibri"/>
                          <a:ea typeface="+mn-ea"/>
                          <a:cs typeface="+mn-cs"/>
                        </a:rPr>
                        <a:t>Replaced by </a:t>
                      </a:r>
                      <a:r>
                        <a:rPr lang="en-US" sz="1000" b="0" dirty="0" err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TenureGroup</a:t>
                      </a:r>
                      <a:endParaRPr sz="1000" b="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4ECDC4"/>
                          </a:solidFill>
                          <a:latin typeface="+mn-lt"/>
                        </a:rPr>
                        <a:t>−1 column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94244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609365"/>
            <a:ext cx="5303520" cy="841248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682517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6B6B"/>
                </a:solidFill>
                <a:latin typeface="Calibri"/>
              </a:rPr>
              <a:t>21  →  </a:t>
            </a:r>
            <a:r>
              <a:rPr lang="en-US" sz="2400" b="1" i="0" dirty="0">
                <a:solidFill>
                  <a:srgbClr val="FF6B6B"/>
                </a:solidFill>
                <a:latin typeface="Calibri"/>
              </a:rPr>
              <a:t>29</a:t>
            </a:r>
            <a:endParaRPr sz="2400" b="1" i="0" dirty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5103141"/>
            <a:ext cx="5303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9090A8"/>
                </a:solidFill>
                <a:latin typeface="Calibri"/>
              </a:rPr>
              <a:t>Raw Features  </a:t>
            </a:r>
            <a:r>
              <a:rPr lang="en-US" sz="1000" b="0" i="0" dirty="0">
                <a:solidFill>
                  <a:srgbClr val="9090A8"/>
                </a:solidFill>
                <a:latin typeface="Calibri"/>
              </a:rPr>
              <a:t>  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 Final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62472" y="4609365"/>
            <a:ext cx="5669280" cy="841248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62472" y="4682517"/>
            <a:ext cx="5669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4ECDC4"/>
                </a:solidFill>
                <a:latin typeface="Calibri"/>
              </a:rPr>
              <a:t>(7043, </a:t>
            </a:r>
            <a:r>
              <a:rPr lang="en-US" sz="2400" b="1" dirty="0">
                <a:solidFill>
                  <a:srgbClr val="4ECDC4"/>
                </a:solidFill>
                <a:latin typeface="Calibri"/>
              </a:rPr>
              <a:t>30</a:t>
            </a:r>
            <a:r>
              <a:rPr sz="2400" b="1" i="0" dirty="0">
                <a:solidFill>
                  <a:srgbClr val="4ECDC4"/>
                </a:solidFill>
                <a:latin typeface="Calibri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5103141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9090A8"/>
                </a:solidFill>
                <a:latin typeface="Calibri"/>
              </a:rPr>
              <a:t>Final Dataset Shape  (features + label)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  <a:latin typeface="Calibri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6B6B"/>
                </a:solidFill>
                <a:latin typeface="Calibri"/>
              </a:rPr>
              <a:t>Two New Features Created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89888"/>
            <a:ext cx="5440680" cy="352044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41148" cy="3520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6B"/>
                </a:solidFill>
                <a:latin typeface="Calibri"/>
              </a:rPr>
              <a:t>services_count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7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B347"/>
                </a:solidFill>
                <a:latin typeface="Calibri"/>
              </a:rPr>
              <a:t>Range: 0 - 7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51663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Sum of </a:t>
            </a:r>
            <a:r>
              <a:rPr sz="1000" b="0" i="0" dirty="0">
                <a:solidFill>
                  <a:schemeClr val="bg1"/>
                </a:solidFill>
                <a:latin typeface="Calibri"/>
              </a:rPr>
              <a:t>7 binary service columns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:
</a:t>
            </a:r>
            <a:r>
              <a:rPr sz="1000" b="0" i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MultipleLines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, </a:t>
            </a:r>
            <a:r>
              <a:rPr sz="1000" b="0" i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OnlineSecurity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, </a:t>
            </a:r>
            <a:r>
              <a:rPr sz="1000" b="0" i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OnlineBackup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, </a:t>
            </a:r>
            <a:r>
              <a:rPr sz="1000" b="0" i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DeviceProtection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,
</a:t>
            </a:r>
            <a:r>
              <a:rPr sz="1000" b="0" i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TechSupport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, </a:t>
            </a:r>
            <a:r>
              <a:rPr sz="1000" b="0" i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StreamingTV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, </a:t>
            </a:r>
            <a:r>
              <a:rPr sz="1000" b="0" i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StreamingMovies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
</a:t>
            </a:r>
            <a:r>
              <a:rPr sz="1000" b="1" i="0" dirty="0">
                <a:solidFill>
                  <a:schemeClr val="bg1"/>
                </a:solidFill>
                <a:latin typeface="Calibri"/>
              </a:rPr>
              <a:t>Why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: EDA showed customers with more services have higher
switching cost and churn less. One numeric feature
replaces 7 columns.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BE5B9F2-2245-CCE4-52D6-DC34F4F9B951}"/>
              </a:ext>
            </a:extLst>
          </p:cNvPr>
          <p:cNvGrpSpPr/>
          <p:nvPr/>
        </p:nvGrpSpPr>
        <p:grpSpPr>
          <a:xfrm>
            <a:off x="594360" y="3405929"/>
            <a:ext cx="5166360" cy="256032"/>
            <a:chOff x="594360" y="4572000"/>
            <a:chExt cx="5166360" cy="256032"/>
          </a:xfrm>
        </p:grpSpPr>
        <p:sp>
          <p:nvSpPr>
            <p:cNvPr id="9" name="Rectangle 8"/>
            <p:cNvSpPr/>
            <p:nvPr/>
          </p:nvSpPr>
          <p:spPr>
            <a:xfrm>
              <a:off x="640080" y="4572000"/>
              <a:ext cx="5120640" cy="256032"/>
            </a:xfrm>
            <a:prstGeom prst="rect">
              <a:avLst/>
            </a:prstGeom>
            <a:solidFill>
              <a:srgbClr val="06060E"/>
            </a:solidFill>
            <a:ln w="3810">
              <a:solidFill>
                <a:srgbClr val="1A1A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4360" y="4575484"/>
              <a:ext cx="4135448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 dirty="0" err="1">
                  <a:solidFill>
                    <a:srgbClr val="4ECDC4"/>
                  </a:solidFill>
                  <a:latin typeface="Calibri"/>
                </a:rPr>
                <a:t>services_count</a:t>
              </a:r>
              <a:r>
                <a:rPr sz="850" b="0" i="0" dirty="0">
                  <a:solidFill>
                    <a:srgbClr val="4ECDC4"/>
                  </a:solidFill>
                  <a:latin typeface="Calibri"/>
                </a:rPr>
                <a:t> = sum(7 binary service columns)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6245352" y="1389888"/>
            <a:ext cx="5440680" cy="352044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45352" y="1389888"/>
            <a:ext cx="41148" cy="35204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48132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ECDC4"/>
                </a:solidFill>
                <a:latin typeface="Calibri"/>
              </a:rPr>
              <a:t>TenureGroup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892807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347"/>
                </a:solidFill>
                <a:latin typeface="Calibri"/>
              </a:rPr>
              <a:t>4 Bins: 0 - 3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212848"/>
            <a:ext cx="51663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Groups </a:t>
            </a:r>
            <a:r>
              <a:rPr sz="1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tenure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into 4 bands matching EDA findings:
 </a:t>
            </a:r>
            <a:r>
              <a:rPr sz="1000" b="0" i="0" dirty="0">
                <a:solidFill>
                  <a:schemeClr val="bg1"/>
                </a:solidFill>
                <a:latin typeface="Calibri"/>
              </a:rPr>
              <a:t> 0 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= 0-12 months   |   </a:t>
            </a:r>
            <a:r>
              <a:rPr sz="1000" b="0" i="0" dirty="0">
                <a:solidFill>
                  <a:schemeClr val="bg1"/>
                </a:solidFill>
                <a:latin typeface="Calibri"/>
              </a:rPr>
              <a:t>1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= 13-24 months
  </a:t>
            </a:r>
            <a:r>
              <a:rPr sz="1000" b="0" i="0" dirty="0">
                <a:solidFill>
                  <a:schemeClr val="bg1"/>
                </a:solidFill>
                <a:latin typeface="Calibri"/>
              </a:rPr>
              <a:t>2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= 25-48 months  |   </a:t>
            </a:r>
            <a:r>
              <a:rPr sz="1000" b="0" i="0" dirty="0">
                <a:solidFill>
                  <a:schemeClr val="bg1"/>
                </a:solidFill>
                <a:latin typeface="Calibri"/>
              </a:rPr>
              <a:t>3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= 49+ months
</a:t>
            </a:r>
            <a:r>
              <a:rPr sz="1000" b="1" i="0" dirty="0">
                <a:solidFill>
                  <a:schemeClr val="bg1"/>
                </a:solidFill>
                <a:latin typeface="Calibri"/>
              </a:rPr>
              <a:t>Why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: Each band shows a distinct churn rate in EDA.
bins=[-1, 12, 24, 48, 72] ensures tenure=0 falls in group 0.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F37B9DE-C129-48F5-1AE8-E6511C439F01}"/>
              </a:ext>
            </a:extLst>
          </p:cNvPr>
          <p:cNvGrpSpPr/>
          <p:nvPr/>
        </p:nvGrpSpPr>
        <p:grpSpPr>
          <a:xfrm>
            <a:off x="6428232" y="3310807"/>
            <a:ext cx="5120640" cy="256032"/>
            <a:chOff x="6428232" y="4572000"/>
            <a:chExt cx="5120640" cy="256032"/>
          </a:xfrm>
        </p:grpSpPr>
        <p:sp>
          <p:nvSpPr>
            <p:cNvPr id="16" name="Rectangle 15"/>
            <p:cNvSpPr/>
            <p:nvPr/>
          </p:nvSpPr>
          <p:spPr>
            <a:xfrm>
              <a:off x="6428232" y="4572000"/>
              <a:ext cx="5120640" cy="256032"/>
            </a:xfrm>
            <a:prstGeom prst="rect">
              <a:avLst/>
            </a:prstGeom>
            <a:solidFill>
              <a:srgbClr val="06060E"/>
            </a:solidFill>
            <a:ln w="3810">
              <a:solidFill>
                <a:srgbClr val="1A1A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28232" y="4572000"/>
              <a:ext cx="4119765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 dirty="0">
                  <a:solidFill>
                    <a:srgbClr val="4ECDC4"/>
                  </a:solidFill>
                  <a:latin typeface="Calibri"/>
                </a:rPr>
                <a:t>pd.cut(tenure, bins=[-1,12,24,48,72], labels=[0,1,2,3]).astype(float)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0454335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  <a:latin typeface="Calibri"/>
              </a:rPr>
              <a:t>MACHINE LEARNING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6B6B"/>
                </a:solidFill>
                <a:latin typeface="Calibri"/>
              </a:rPr>
              <a:t>Three Algorithms </a:t>
            </a:r>
            <a:r>
              <a:rPr lang="en-IL" sz="3000" b="1" i="0" dirty="0">
                <a:solidFill>
                  <a:srgbClr val="FF6B6B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6B6B"/>
                </a:solidFill>
                <a:latin typeface="Calibri"/>
              </a:rPr>
              <a:t> Baseline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89888"/>
            <a:ext cx="3200400" cy="205740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41148" cy="2057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DECISION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647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0A8"/>
                </a:solidFill>
                <a:latin typeface="Calibri"/>
              </a:rPr>
              <a:t>depth=3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0F8"/>
                </a:solidFill>
                <a:latin typeface="Calibri"/>
              </a:rPr>
              <a:t>79.7%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0A8"/>
                </a:solidFill>
                <a:latin typeface="Calibri"/>
              </a:rPr>
              <a:t>Test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0A8"/>
                </a:solidFill>
                <a:latin typeface="Calibri"/>
              </a:rPr>
              <a:t>Train: 78.99%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67328" y="1389888"/>
            <a:ext cx="3200400" cy="205740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67328" y="1389888"/>
            <a:ext cx="41148" cy="20574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50208" y="14813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347"/>
                </a:solidFill>
                <a:latin typeface="Calibri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17647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0A8"/>
                </a:solidFill>
                <a:latin typeface="Calibri"/>
              </a:rPr>
              <a:t>100 trees, depth=3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2011680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0F8"/>
                </a:solidFill>
                <a:latin typeface="Calibri"/>
              </a:rPr>
              <a:t>79.5%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25603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0A8"/>
                </a:solidFill>
                <a:latin typeface="Calibri"/>
              </a:rPr>
              <a:t>Test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28346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0A8"/>
                </a:solidFill>
                <a:latin typeface="Calibri"/>
              </a:rPr>
              <a:t>Train: 78.92%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77456" y="1389888"/>
            <a:ext cx="3200400" cy="205740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77456" y="1389888"/>
            <a:ext cx="41148" cy="20574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0336" y="14813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CDC4"/>
                </a:solidFill>
                <a:latin typeface="Calibri"/>
              </a:rPr>
              <a:t>KNN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17647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0A8"/>
                </a:solidFill>
                <a:latin typeface="Calibri"/>
              </a:rPr>
              <a:t>k=3, unscaled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0336" y="2011680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0F8"/>
                </a:solidFill>
                <a:latin typeface="Calibri"/>
              </a:rPr>
              <a:t>75.3%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0336" y="25603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090A8"/>
                </a:solidFill>
                <a:latin typeface="Calibri"/>
              </a:rPr>
              <a:t>Test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28346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FFB347"/>
                </a:solidFill>
                <a:latin typeface="Calibri"/>
              </a:rPr>
              <a:t>Train: 86.1% (overfit)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66160"/>
            <a:ext cx="6583680" cy="713232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630168"/>
            <a:ext cx="630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chemeClr val="bg1"/>
                </a:solidFill>
                <a:latin typeface="Calibri"/>
              </a:rPr>
              <a:t>Key Observation: 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KNN shows high </a:t>
            </a:r>
            <a:r>
              <a:rPr sz="1000" b="0" i="0" dirty="0">
                <a:solidFill>
                  <a:schemeClr val="accent2"/>
                </a:solidFill>
                <a:latin typeface="Calibri"/>
              </a:rPr>
              <a:t>train accuracy (86.1%) 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but </a:t>
            </a:r>
            <a:r>
              <a:rPr sz="1000" b="0" i="0" dirty="0">
                <a:solidFill>
                  <a:schemeClr val="bg1"/>
                </a:solidFill>
                <a:latin typeface="Calibri"/>
              </a:rPr>
              <a:t>weak generalization (75.3% test)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</a:t>
            </a:r>
            <a:r>
              <a:rPr lang="en-IL" sz="1000" b="0" i="0" dirty="0">
                <a:solidFill>
                  <a:srgbClr val="9090A8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classic overfitting.
DT and RF perform similarly at baseline (both use depth=3).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089858" y="3493008"/>
            <a:ext cx="4786394" cy="300509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454335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  <a:latin typeface="Calibri"/>
              </a:rPr>
              <a:t>ALGORITHM INTROSPECTION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6B6B"/>
                </a:solidFill>
                <a:latin typeface="Calibri"/>
              </a:rPr>
              <a:t>Decision Tree Rules &amp; RF Feature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89888"/>
            <a:ext cx="5486400" cy="388620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41148" cy="3886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6B6B"/>
                </a:solidFill>
                <a:latin typeface="Calibri"/>
              </a:rPr>
              <a:t>Decision Tree </a:t>
            </a:r>
            <a:r>
              <a:rPr lang="en-IL" sz="1200" b="1" i="0" dirty="0">
                <a:solidFill>
                  <a:srgbClr val="FF6B6B"/>
                </a:solidFill>
                <a:latin typeface="Calibri"/>
              </a:rPr>
              <a:t>-</a:t>
            </a:r>
            <a:r>
              <a:rPr sz="1200" b="1" i="0" dirty="0">
                <a:solidFill>
                  <a:srgbClr val="FF6B6B"/>
                </a:solidFill>
                <a:latin typeface="Calibri"/>
              </a:rPr>
              <a:t> Key Learned Rules (depth=3)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6B6B"/>
                </a:solidFill>
                <a:latin typeface="Calibri"/>
              </a:rPr>
              <a:t>Root Split:  </a:t>
            </a:r>
            <a:r>
              <a:rPr sz="1000" b="0" i="0" dirty="0" err="1">
                <a:solidFill>
                  <a:srgbClr val="FF6B6B"/>
                </a:solidFill>
                <a:latin typeface="Calibri"/>
              </a:rPr>
              <a:t>Contract_Month</a:t>
            </a:r>
            <a:r>
              <a:rPr lang="en-US" sz="1000" dirty="0" err="1">
                <a:solidFill>
                  <a:srgbClr val="FF6B6B"/>
                </a:solidFill>
                <a:latin typeface="Calibri"/>
              </a:rPr>
              <a:t>_</a:t>
            </a:r>
            <a:r>
              <a:rPr sz="1000" b="0" i="0" dirty="0" err="1">
                <a:solidFill>
                  <a:srgbClr val="FF6B6B"/>
                </a:solidFill>
                <a:latin typeface="Calibri"/>
              </a:rPr>
              <a:t>to</a:t>
            </a:r>
            <a:r>
              <a:rPr lang="en-US" sz="1000" b="0" i="0" dirty="0" err="1">
                <a:solidFill>
                  <a:srgbClr val="FF6B6B"/>
                </a:solidFill>
                <a:latin typeface="Calibri"/>
              </a:rPr>
              <a:t>_</a:t>
            </a:r>
            <a:r>
              <a:rPr sz="1000" b="0" i="0" dirty="0" err="1">
                <a:solidFill>
                  <a:srgbClr val="FF6B6B"/>
                </a:solidFill>
                <a:latin typeface="Calibri"/>
              </a:rPr>
              <a:t>month</a:t>
            </a:r>
            <a:r>
              <a:rPr sz="1000" b="0" i="0" dirty="0">
                <a:solidFill>
                  <a:srgbClr val="FF6B6B"/>
                </a:solidFill>
                <a:latin typeface="Calibri"/>
              </a:rPr>
              <a:t> &lt;= 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2248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  -&gt; Long-term contract path:   Low churn (loyalty)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6937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A8"/>
                </a:solidFill>
                <a:latin typeface="Calibri"/>
              </a:rPr>
              <a:t>  -&gt; Month-to-month path:   Split on tenure / TotalCharges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248" y="2666815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347"/>
                </a:solidFill>
                <a:latin typeface="Calibri"/>
              </a:rPr>
              <a:t>  High-risk profile: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248" y="2913703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B347"/>
                </a:solidFill>
                <a:latin typeface="Calibri"/>
              </a:rPr>
              <a:t>  Month-to-month + Short tenure + High charges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654" y="3180904"/>
            <a:ext cx="5120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At depth=3, rules are fully interpretable </a:t>
            </a:r>
            <a:r>
              <a:rPr lang="en-IL" sz="1000" b="0" i="0" dirty="0">
                <a:solidFill>
                  <a:srgbClr val="9090A8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486" y="34277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teams can act on them without a data scientist.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48402" y="3695347"/>
            <a:ext cx="5394960" cy="29545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54335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10 / 14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EDA460-1D14-A357-7B1F-7664D75BD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2" y="1389888"/>
            <a:ext cx="5446694" cy="196478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78A5D7A-8273-8227-1A2A-8A78E6DAB4A9}"/>
              </a:ext>
            </a:extLst>
          </p:cNvPr>
          <p:cNvSpPr/>
          <p:nvPr/>
        </p:nvSpPr>
        <p:spPr>
          <a:xfrm>
            <a:off x="6371302" y="1563329"/>
            <a:ext cx="2861187" cy="17108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  <a:latin typeface="Calibri"/>
              </a:rPr>
              <a:t>OVERFITTING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6B6B"/>
                </a:solidFill>
                <a:latin typeface="Calibri"/>
              </a:rPr>
              <a:t>Train vs Test </a:t>
            </a:r>
            <a:r>
              <a:rPr lang="en-IL" sz="3000" b="1" i="0" dirty="0">
                <a:solidFill>
                  <a:srgbClr val="FF6B6B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6B6B"/>
                </a:solidFill>
                <a:latin typeface="Calibri"/>
              </a:rPr>
              <a:t> Hyperparameter Sweeps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5760" y="1802737"/>
            <a:ext cx="5838772" cy="2880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86238" y="1802737"/>
            <a:ext cx="5440002" cy="288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86238" y="4847168"/>
            <a:ext cx="5440002" cy="68580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36815" y="4847168"/>
            <a:ext cx="379476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9090A8"/>
                </a:solidFill>
                <a:latin typeface="Calibri"/>
              </a:rPr>
              <a:t>Best </a:t>
            </a:r>
            <a:r>
              <a:rPr lang="en-US" sz="1050" b="1" dirty="0">
                <a:solidFill>
                  <a:srgbClr val="9090A8"/>
                </a:solidFill>
                <a:latin typeface="Calibri"/>
              </a:rPr>
              <a:t>Config</a:t>
            </a:r>
            <a:r>
              <a:rPr lang="en-IL" sz="1050" b="1" dirty="0">
                <a:solidFill>
                  <a:srgbClr val="9090A8"/>
                </a:solidFill>
                <a:latin typeface="Calibri"/>
              </a:rPr>
              <a:t>:</a:t>
            </a:r>
            <a:endParaRPr lang="en-US" sz="1050" b="1" dirty="0">
              <a:solidFill>
                <a:srgbClr val="9090A8"/>
              </a:solidFill>
              <a:latin typeface="Calibri"/>
            </a:endParaRPr>
          </a:p>
          <a:p>
            <a:pPr algn="ctr"/>
            <a:r>
              <a:rPr b="1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</a:rPr>
              <a:t>depth=5, n=2  </a:t>
            </a:r>
            <a:endParaRPr lang="en-US" b="1" i="0" dirty="0">
              <a:solidFill>
                <a:schemeClr val="accent6">
                  <a:lumMod val="60000"/>
                  <a:lumOff val="40000"/>
                </a:schemeClr>
              </a:solidFill>
              <a:latin typeface="Calibri"/>
            </a:endParaRPr>
          </a:p>
          <a:p>
            <a:pPr algn="ctr"/>
            <a:r>
              <a:rPr sz="1100" b="1" i="0" dirty="0">
                <a:solidFill>
                  <a:srgbClr val="F0F0F8"/>
                </a:solidFill>
                <a:latin typeface="Calibri"/>
              </a:rPr>
              <a:t>81.2%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9 / 14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8316CB-D639-C3FB-5C81-2688DDBBD36A}"/>
              </a:ext>
            </a:extLst>
          </p:cNvPr>
          <p:cNvSpPr/>
          <p:nvPr/>
        </p:nvSpPr>
        <p:spPr>
          <a:xfrm>
            <a:off x="365760" y="4847168"/>
            <a:ext cx="5838771" cy="68580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234" y="4796464"/>
            <a:ext cx="3784862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9090A8"/>
                </a:solidFill>
                <a:latin typeface="Calibri"/>
              </a:rPr>
              <a:t>Best</a:t>
            </a:r>
            <a:r>
              <a:rPr lang="en-US" sz="1050" b="1" dirty="0">
                <a:solidFill>
                  <a:srgbClr val="9090A8"/>
                </a:solidFill>
                <a:latin typeface="Calibri"/>
              </a:rPr>
              <a:t> Depth</a:t>
            </a:r>
            <a:r>
              <a:rPr sz="1050" b="1" dirty="0">
                <a:solidFill>
                  <a:srgbClr val="9090A8"/>
                </a:solidFill>
                <a:latin typeface="Calibri"/>
              </a:rPr>
              <a:t>:</a:t>
            </a:r>
            <a:endParaRPr lang="en-US" sz="1050" b="1" dirty="0">
              <a:solidFill>
                <a:srgbClr val="9090A8"/>
              </a:solidFill>
              <a:latin typeface="Calibri"/>
            </a:endParaRPr>
          </a:p>
          <a:p>
            <a:pPr algn="ctr"/>
            <a:r>
              <a:rPr b="1" i="0" dirty="0">
                <a:solidFill>
                  <a:schemeClr val="accent2"/>
                </a:solidFill>
                <a:latin typeface="Calibri"/>
              </a:rPr>
              <a:t>3</a:t>
            </a:r>
            <a:endParaRPr lang="en-US" b="1" i="0" dirty="0">
              <a:solidFill>
                <a:schemeClr val="accent2"/>
              </a:solidFill>
              <a:latin typeface="Calibri"/>
            </a:endParaRPr>
          </a:p>
          <a:p>
            <a:pPr algn="ctr"/>
            <a:r>
              <a:rPr sz="1200" b="1" i="0" dirty="0">
                <a:solidFill>
                  <a:srgbClr val="F0F0F8"/>
                </a:solidFill>
                <a:latin typeface="Calibri"/>
              </a:rPr>
              <a:t>    79.7% 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05604-E97C-B35C-D155-2C6231318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336A35-AB84-7BB5-BF5A-F6DD33559D19}"/>
              </a:ext>
            </a:extLst>
          </p:cNvPr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  <a:latin typeface="Calibri"/>
              </a:rPr>
              <a:t>OVERFITTING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98DCD9-BA96-EEB2-E5E9-A08DA0FC7D9F}"/>
              </a:ext>
            </a:extLst>
          </p:cNvPr>
          <p:cNvSpPr txBox="1"/>
          <p:nvPr/>
        </p:nvSpPr>
        <p:spPr>
          <a:xfrm>
            <a:off x="457200" y="566928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6B6B"/>
                </a:solidFill>
                <a:latin typeface="Calibri"/>
              </a:rPr>
              <a:t>Train vs Test </a:t>
            </a:r>
            <a:r>
              <a:rPr lang="en-IL" sz="3000" b="1" i="0" dirty="0">
                <a:solidFill>
                  <a:srgbClr val="FF6B6B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6B6B"/>
                </a:solidFill>
                <a:latin typeface="Calibri"/>
              </a:rPr>
              <a:t> Hyperparameter Sweeps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0C8AD3-2331-935A-67AD-2329514BE3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1628" y="1802737"/>
            <a:ext cx="5830723" cy="288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9054E3-260A-374F-DEDF-9A905CDF7A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0957" y="1802737"/>
            <a:ext cx="5812427" cy="287289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88A774-5AD7-BADF-78FF-3C5738B77029}"/>
              </a:ext>
            </a:extLst>
          </p:cNvPr>
          <p:cNvGrpSpPr/>
          <p:nvPr/>
        </p:nvGrpSpPr>
        <p:grpSpPr>
          <a:xfrm>
            <a:off x="6196389" y="4847168"/>
            <a:ext cx="5812426" cy="700192"/>
            <a:chOff x="6386238" y="4847168"/>
            <a:chExt cx="5440002" cy="70019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61E3984-4D21-C842-D9D6-AFA9226CD9BF}"/>
                </a:ext>
              </a:extLst>
            </p:cNvPr>
            <p:cNvSpPr/>
            <p:nvPr/>
          </p:nvSpPr>
          <p:spPr>
            <a:xfrm>
              <a:off x="6386238" y="4847168"/>
              <a:ext cx="5440002" cy="685800"/>
            </a:xfrm>
            <a:prstGeom prst="rect">
              <a:avLst/>
            </a:prstGeom>
            <a:solidFill>
              <a:srgbClr val="12121E"/>
            </a:solidFill>
            <a:ln w="6350">
              <a:solidFill>
                <a:srgbClr val="25253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6388E1C-A3AC-AB33-D7B7-FBF20E650457}"/>
                </a:ext>
              </a:extLst>
            </p:cNvPr>
            <p:cNvSpPr txBox="1"/>
            <p:nvPr/>
          </p:nvSpPr>
          <p:spPr>
            <a:xfrm>
              <a:off x="7436815" y="4847168"/>
              <a:ext cx="3794760" cy="700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9090A8"/>
                  </a:solidFill>
                </a:rPr>
                <a:t>Best K - Scaled:</a:t>
              </a:r>
            </a:p>
            <a:p>
              <a:pPr algn="ctr"/>
              <a:r>
                <a:rPr lang="en-US" b="1" dirty="0">
                  <a:solidFill>
                    <a:schemeClr val="accent5"/>
                  </a:solidFill>
                  <a:latin typeface="Calibri"/>
                </a:rPr>
                <a:t>K = 19</a:t>
              </a:r>
              <a:r>
                <a:rPr b="1" dirty="0">
                  <a:solidFill>
                    <a:schemeClr val="accent5"/>
                  </a:solidFill>
                  <a:latin typeface="Calibri"/>
                </a:rPr>
                <a:t>  </a:t>
              </a:r>
              <a:endParaRPr lang="en-US" b="1" dirty="0">
                <a:solidFill>
                  <a:schemeClr val="accent5"/>
                </a:solidFill>
                <a:latin typeface="Calibri"/>
              </a:endParaRPr>
            </a:p>
            <a:p>
              <a:pPr algn="ctr"/>
              <a:r>
                <a:rPr lang="en-US" sz="1100" b="1" i="0" dirty="0">
                  <a:solidFill>
                    <a:srgbClr val="F0F0F8"/>
                  </a:solidFill>
                  <a:latin typeface="Calibri"/>
                </a:rPr>
                <a:t>79.8</a:t>
              </a:r>
              <a:r>
                <a:rPr sz="1100" b="1" i="0" dirty="0">
                  <a:solidFill>
                    <a:srgbClr val="F0F0F8"/>
                  </a:solidFill>
                  <a:latin typeface="Calibri"/>
                </a:rPr>
                <a:t>% test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4C747C4-CCD0-0DAD-D949-3E7F84AE08C1}"/>
              </a:ext>
            </a:extLst>
          </p:cNvPr>
          <p:cNvSpPr txBox="1"/>
          <p:nvPr/>
        </p:nvSpPr>
        <p:spPr>
          <a:xfrm>
            <a:off x="10454335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9 / 14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C4F250-66AD-5AC4-D7F0-0CEF6E4F8C59}"/>
              </a:ext>
            </a:extLst>
          </p:cNvPr>
          <p:cNvGrpSpPr/>
          <p:nvPr/>
        </p:nvGrpSpPr>
        <p:grpSpPr>
          <a:xfrm>
            <a:off x="257076" y="4775541"/>
            <a:ext cx="5838771" cy="736504"/>
            <a:chOff x="365760" y="4796464"/>
            <a:chExt cx="5838771" cy="73650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BAB6DC-0E54-2204-EBE8-20FF8D1C6946}"/>
                </a:ext>
              </a:extLst>
            </p:cNvPr>
            <p:cNvSpPr/>
            <p:nvPr/>
          </p:nvSpPr>
          <p:spPr>
            <a:xfrm>
              <a:off x="365760" y="4847168"/>
              <a:ext cx="5838771" cy="685800"/>
            </a:xfrm>
            <a:prstGeom prst="rect">
              <a:avLst/>
            </a:prstGeom>
            <a:solidFill>
              <a:srgbClr val="12121E"/>
            </a:solidFill>
            <a:ln w="6350">
              <a:solidFill>
                <a:srgbClr val="25253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3DCDDD3-D3EE-323B-1C0E-A82031D8EBC8}"/>
                </a:ext>
              </a:extLst>
            </p:cNvPr>
            <p:cNvSpPr txBox="1"/>
            <p:nvPr/>
          </p:nvSpPr>
          <p:spPr>
            <a:xfrm>
              <a:off x="1234234" y="4796464"/>
              <a:ext cx="3784862" cy="715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9090A8"/>
                  </a:solidFill>
                  <a:latin typeface="Calibri"/>
                </a:rPr>
                <a:t>Best K - No Scale:</a:t>
              </a:r>
            </a:p>
            <a:p>
              <a:pPr algn="ctr"/>
              <a:r>
                <a:rPr lang="en-US" b="1" dirty="0">
                  <a:solidFill>
                    <a:schemeClr val="accent5"/>
                  </a:solidFill>
                  <a:latin typeface="Calibri"/>
                </a:rPr>
                <a:t>K = 10</a:t>
              </a:r>
            </a:p>
            <a:p>
              <a:pPr algn="ctr"/>
              <a:r>
                <a:rPr sz="1200" b="1" i="0" dirty="0">
                  <a:solidFill>
                    <a:srgbClr val="F0F0F8"/>
                  </a:solidFill>
                  <a:latin typeface="Calibri"/>
                </a:rPr>
                <a:t>    </a:t>
              </a:r>
              <a:r>
                <a:rPr lang="en-US" sz="1200" b="1" i="0" dirty="0">
                  <a:solidFill>
                    <a:srgbClr val="F0F0F8"/>
                  </a:solidFill>
                  <a:latin typeface="Calibri"/>
                </a:rPr>
                <a:t>80.2</a:t>
              </a:r>
              <a:r>
                <a:rPr sz="1200" b="1" i="0" dirty="0">
                  <a:solidFill>
                    <a:srgbClr val="F0F0F8"/>
                  </a:solidFill>
                  <a:latin typeface="Calibri"/>
                </a:rPr>
                <a:t>% test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9896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6B6B"/>
                </a:solidFill>
                <a:latin typeface="Calibri"/>
              </a:rPr>
              <a:t>Best Accuracy </a:t>
            </a:r>
            <a:r>
              <a:rPr lang="en-IL" sz="3000" b="1" i="0" dirty="0">
                <a:solidFill>
                  <a:srgbClr val="FF6B6B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6B6B"/>
                </a:solidFill>
                <a:latin typeface="Calibri"/>
              </a:rPr>
              <a:t> All Algorithms Compared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0388" y="1235754"/>
          <a:ext cx="647454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1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6B6B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6B6B"/>
                          </a:solidFill>
                          <a:latin typeface="Calibri"/>
                        </a:rPr>
                        <a:t>Best Configuration</a:t>
                      </a:r>
                    </a:p>
                  </a:txBody>
                  <a:tcPr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6B6B"/>
                          </a:solidFill>
                          <a:latin typeface="Calibri"/>
                        </a:rPr>
                        <a:t>Test Acc.</a:t>
                      </a:r>
                    </a:p>
                  </a:txBody>
                  <a:tcPr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6B6B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A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0F0F8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090A8"/>
                          </a:solidFill>
                          <a:latin typeface="Calibri"/>
                        </a:rPr>
                        <a:t>max_depth=3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0F0F8"/>
                          </a:solidFill>
                          <a:latin typeface="Calibri"/>
                        </a:rPr>
                        <a:t>79.7%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CDC4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0F0F8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16100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090A8"/>
                          </a:solidFill>
                          <a:latin typeface="Calibri"/>
                        </a:rPr>
                        <a:t>depth=5, n_estimators=2</a:t>
                      </a:r>
                    </a:p>
                  </a:txBody>
                  <a:tcPr>
                    <a:solidFill>
                      <a:srgbClr val="16100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B347"/>
                          </a:solidFill>
                          <a:latin typeface="Calibri"/>
                        </a:rPr>
                        <a:t>81.2%</a:t>
                      </a:r>
                    </a:p>
                  </a:txBody>
                  <a:tcPr>
                    <a:solidFill>
                      <a:srgbClr val="16100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FFB347"/>
                          </a:solidFill>
                          <a:latin typeface="Calibri"/>
                        </a:rPr>
                        <a:t>Best Overall</a:t>
                      </a:r>
                    </a:p>
                  </a:txBody>
                  <a:tcPr>
                    <a:solidFill>
                      <a:srgbClr val="1610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0F0F8"/>
                          </a:solidFill>
                          <a:latin typeface="Calibri"/>
                        </a:rPr>
                        <a:t>KNN (unscaled)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9090A8"/>
                          </a:solidFill>
                          <a:latin typeface="Calibri"/>
                        </a:rPr>
                        <a:t>k=10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0F0F8"/>
                          </a:solidFill>
                          <a:latin typeface="Calibri"/>
                        </a:rPr>
                        <a:t>80.2%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CDC4"/>
                          </a:solidFill>
                          <a:latin typeface="Calibri"/>
                        </a:rPr>
                        <a:t>Competitive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F0F0F8"/>
                          </a:solidFill>
                          <a:latin typeface="Calibri"/>
                        </a:rPr>
                        <a:t>KNN + </a:t>
                      </a:r>
                      <a:r>
                        <a:rPr sz="1000" b="0" dirty="0" err="1">
                          <a:solidFill>
                            <a:srgbClr val="F0F0F8"/>
                          </a:solidFill>
                          <a:latin typeface="Calibri"/>
                        </a:rPr>
                        <a:t>StandardScaler</a:t>
                      </a:r>
                      <a:endParaRPr sz="1000" b="0" dirty="0">
                        <a:solidFill>
                          <a:srgbClr val="F0F0F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090A8"/>
                          </a:solidFill>
                          <a:latin typeface="Calibri"/>
                        </a:rPr>
                        <a:t>k=19, scaled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0F0F8"/>
                          </a:solidFill>
                          <a:latin typeface="Calibri"/>
                        </a:rPr>
                        <a:t>79.8%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4ECDC4"/>
                          </a:solidFill>
                          <a:latin typeface="Calibri"/>
                        </a:rPr>
                        <a:t>Consistent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0388" y="3781719"/>
            <a:ext cx="6474542" cy="464119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0388" y="3801112"/>
            <a:ext cx="6583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Insight: RF ensemble averaging reduces variance and captures non-linear feature interactions.
KNN without scaling slightly outperforms scaled KNN </a:t>
            </a:r>
            <a:r>
              <a:rPr lang="en-IL" sz="1000" b="0" i="0" dirty="0">
                <a:solidFill>
                  <a:srgbClr val="9090A8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scaling changes distance geometry.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36766" y="1225922"/>
            <a:ext cx="5046529" cy="30100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54335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  <a:latin typeface="Calibri"/>
              </a:rPr>
              <a:t>HYPERPARAMETER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6B"/>
                </a:solidFill>
                <a:latin typeface="Calibri"/>
              </a:rPr>
              <a:t>GridSearchCV &amp; Confusion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89888"/>
            <a:ext cx="5486400" cy="233172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41148" cy="233172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FB347"/>
                </a:solidFill>
                <a:latin typeface="Calibri"/>
              </a:rPr>
              <a:t>GridSearchCV</a:t>
            </a:r>
            <a:r>
              <a:rPr sz="1200" b="1" i="0" dirty="0">
                <a:solidFill>
                  <a:srgbClr val="FFB347"/>
                </a:solidFill>
                <a:latin typeface="Calibri"/>
              </a:rPr>
              <a:t> </a:t>
            </a:r>
            <a:r>
              <a:rPr lang="en-IL" sz="1200" b="1" i="0" dirty="0">
                <a:solidFill>
                  <a:srgbClr val="FFB347"/>
                </a:solidFill>
                <a:latin typeface="Calibri"/>
              </a:rPr>
              <a:t>-</a:t>
            </a:r>
            <a:r>
              <a:rPr sz="1200" b="1" i="0" dirty="0">
                <a:solidFill>
                  <a:srgbClr val="FFB347"/>
                </a:solidFill>
                <a:latin typeface="Calibri"/>
              </a:rPr>
              <a:t> 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A8"/>
                </a:solidFill>
                <a:latin typeface="Calibri"/>
              </a:rPr>
              <a:t>Search Space: n_estimators [50, 100, 200]  x  max_depth [None, 5, 10, 20]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305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A8"/>
                </a:solidFill>
                <a:latin typeface="Calibri"/>
              </a:rPr>
              <a:t>Cross-Validation: 5-fold CV, scoring=accuracy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50592"/>
            <a:ext cx="2468880" cy="100584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90A8"/>
                </a:solidFill>
                <a:latin typeface="Calibri"/>
              </a:rPr>
              <a:t>GridSearchCV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0F8"/>
                </a:solidFill>
                <a:latin typeface="Calibri"/>
              </a:rPr>
              <a:t>80.0%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0A8"/>
                </a:solidFill>
                <a:latin typeface="Calibri"/>
              </a:rPr>
              <a:t>depth=10, n=100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450592"/>
            <a:ext cx="2468880" cy="100584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ECDC4"/>
                </a:solidFill>
                <a:latin typeface="Calibri"/>
              </a:rPr>
              <a:t>RandomizedSearchCV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7889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CDC4"/>
                </a:solidFill>
                <a:latin typeface="Calibri"/>
              </a:rPr>
              <a:t>80.1%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004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0A8"/>
                </a:solidFill>
                <a:latin typeface="Calibri"/>
              </a:rPr>
              <a:t>depth=10, n=200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98696"/>
            <a:ext cx="5486400" cy="621792"/>
          </a:xfrm>
          <a:prstGeom prst="rect">
            <a:avLst/>
          </a:prstGeom>
          <a:solidFill>
            <a:srgbClr val="04100E"/>
          </a:solidFill>
          <a:ln w="6350">
            <a:solidFill>
              <a:srgbClr val="10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862703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Best Model: </a:t>
            </a:r>
            <a:r>
              <a:rPr sz="1000" b="0" i="0" dirty="0" err="1">
                <a:solidFill>
                  <a:srgbClr val="9090A8"/>
                </a:solidFill>
                <a:latin typeface="Calibri"/>
              </a:rPr>
              <a:t>RandomizedSearchCV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RF (</a:t>
            </a:r>
            <a:r>
              <a:rPr sz="1000" b="0" i="0" dirty="0" err="1">
                <a:solidFill>
                  <a:srgbClr val="9090A8"/>
                </a:solidFill>
                <a:latin typeface="Calibri"/>
              </a:rPr>
              <a:t>max_depth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=10, n=200) </a:t>
            </a:r>
            <a:r>
              <a:rPr lang="en-IL" sz="1000" b="0" i="0" dirty="0">
                <a:solidFill>
                  <a:srgbClr val="9090A8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80.11% test accuracy.
Tuning improved RF by ~1% vs the baseline configuration.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72680" y="1403185"/>
            <a:ext cx="4878000" cy="324612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372680" y="4720958"/>
            <a:ext cx="4878000" cy="59436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2680" y="4784966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179 missed churns (FN) = most costly. Retention budget should target
high-probability churn predictions to minimize false negatives.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4335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  <a:latin typeface="Calibri"/>
              </a:rPr>
              <a:t>BUSINESS &amp; TECHNICAL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6B"/>
                </a:solidFill>
                <a:latin typeface="Calibri"/>
              </a:rPr>
              <a:t>Turning Predictions into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533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  <a:latin typeface="Calibri"/>
              </a:rPr>
              <a:t>Top Churn Drivers (Confirmed by Model)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669280" cy="123444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41148" cy="1234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  <a:latin typeface="Calibri"/>
              </a:rPr>
              <a:t>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8"/>
                </a:solidFill>
                <a:latin typeface="Calibri"/>
              </a:rPr>
              <a:t>Contract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130552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A8"/>
                </a:solidFill>
                <a:latin typeface="Calibri"/>
              </a:rPr>
              <a:t>Month-to-month customers are 15x more likely to churn.
Incentivise upgrades to annual contracts early in the relationship.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40"/>
            <a:ext cx="5669280" cy="123444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063240"/>
            <a:ext cx="41148" cy="12344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ECDC4"/>
                </a:solidFill>
                <a:latin typeface="Calibri"/>
              </a:rP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1546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8"/>
                </a:solidFill>
                <a:latin typeface="Calibri"/>
              </a:rPr>
              <a:t>Customer Tenure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502152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A8"/>
                </a:solidFill>
                <a:latin typeface="Calibri"/>
              </a:rPr>
              <a:t>New customers (&lt;12 months) are at highest risk.
Onboarding loyalty programmes dramatically reduce early churn.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34840"/>
            <a:ext cx="5669280" cy="123444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434840"/>
            <a:ext cx="41148" cy="123444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526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B347"/>
                </a:solidFill>
                <a:latin typeface="Calibri"/>
              </a:rP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52627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8"/>
                </a:solidFill>
                <a:latin typeface="Calibri"/>
              </a:rPr>
              <a:t>Monthly Charges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873752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A8"/>
                </a:solidFill>
                <a:latin typeface="Calibri"/>
              </a:rPr>
              <a:t>High-charge Fiber Optic users need targeted value messaging
and bundled discounts before they look elsewhere.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13533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CDC4"/>
                </a:solidFill>
                <a:latin typeface="Calibri"/>
              </a:rPr>
              <a:t>Final Algorithm Summary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45352" y="1691640"/>
          <a:ext cx="54864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ECDC4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ECDC4"/>
                          </a:solidFill>
                          <a:latin typeface="Calibri"/>
                        </a:rPr>
                        <a:t>Best Acc.</a:t>
                      </a:r>
                    </a:p>
                  </a:txBody>
                  <a:tcPr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ECDC4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A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0F0F8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0F0F8"/>
                          </a:solidFill>
                          <a:latin typeface="Calibri"/>
                        </a:rPr>
                        <a:t>79.7%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CDC4"/>
                          </a:solidFill>
                          <a:latin typeface="Calibri"/>
                        </a:rPr>
                        <a:t>Interpretable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0F0F8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16100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B347"/>
                          </a:solidFill>
                          <a:latin typeface="Calibri"/>
                        </a:rPr>
                        <a:t>81.2%</a:t>
                      </a:r>
                    </a:p>
                  </a:txBody>
                  <a:tcPr>
                    <a:solidFill>
                      <a:srgbClr val="16100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B347"/>
                          </a:solidFill>
                          <a:latin typeface="Calibri"/>
                        </a:rPr>
                        <a:t>Best Overall</a:t>
                      </a:r>
                    </a:p>
                  </a:txBody>
                  <a:tcPr>
                    <a:solidFill>
                      <a:srgbClr val="1610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0F0F8"/>
                          </a:solidFill>
                          <a:latin typeface="Calibri"/>
                        </a:rPr>
                        <a:t>KNN (unscaled)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0F0F8"/>
                          </a:solidFill>
                          <a:latin typeface="Calibri"/>
                        </a:rPr>
                        <a:t>80.2%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CDC4"/>
                          </a:solidFill>
                          <a:latin typeface="Calibri"/>
                        </a:rPr>
                        <a:t>Competitive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0F0F8"/>
                          </a:solidFill>
                          <a:latin typeface="Calibri"/>
                        </a:rPr>
                        <a:t>RF (GridSearchCV)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0F0F8"/>
                          </a:solidFill>
                          <a:latin typeface="Calibri"/>
                        </a:rPr>
                        <a:t>80.1%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CDC4"/>
                          </a:solidFill>
                          <a:latin typeface="Calibri"/>
                        </a:rPr>
                        <a:t>Tuned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245352" y="4160520"/>
            <a:ext cx="5486400" cy="822960"/>
          </a:xfrm>
          <a:prstGeom prst="rect">
            <a:avLst/>
          </a:prstGeom>
          <a:solidFill>
            <a:srgbClr val="0A0404"/>
          </a:solidFill>
          <a:ln w="6350">
            <a:solidFill>
              <a:srgbClr val="28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4224528"/>
            <a:ext cx="52120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90A8"/>
                </a:solidFill>
                <a:latin typeface="Calibri"/>
              </a:rPr>
              <a:t>Conclusion: Churn follows rule-based patterns </a:t>
            </a:r>
            <a:r>
              <a:rPr lang="en-IL" sz="1000" b="0" i="0" dirty="0">
                <a:solidFill>
                  <a:srgbClr val="9090A8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tree models outperform KNN.
Random Forest is recommended: ensemble averaging reduces variance and captures
complex feature interactions between contract, tenure, and charges.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4335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/>
              </a:rPr>
              <a:t>Technion  |  GenAI Course  |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6B6B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2633472"/>
            <a:ext cx="1033271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090A8"/>
                </a:solidFill>
                <a:latin typeface="Calibri"/>
              </a:rPr>
              <a:t>Telecom Customer Churn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401568"/>
            <a:ext cx="3154680" cy="91440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3493008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0F8"/>
                </a:solidFill>
                <a:latin typeface="Calibri"/>
              </a:rPr>
              <a:t>Idan Arbel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90A8"/>
                </a:solidFill>
                <a:latin typeface="Calibri"/>
              </a:rPr>
              <a:t>204344022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401568"/>
            <a:ext cx="3154680" cy="914400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3493008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0F8"/>
                </a:solidFill>
                <a:latin typeface="Calibri"/>
              </a:rPr>
              <a:t>Yovel Yefet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8862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90A8"/>
                </a:solidFill>
                <a:latin typeface="Calibri"/>
              </a:rPr>
              <a:t>318987815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4572000"/>
            <a:ext cx="3383280" cy="384048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599432"/>
            <a:ext cx="3383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9090A8"/>
                </a:solidFill>
                <a:latin typeface="Calibri"/>
              </a:rPr>
              <a:t>Random Forest </a:t>
            </a:r>
            <a:r>
              <a:rPr lang="en-IL" sz="1000" b="0" i="0" dirty="0">
                <a:solidFill>
                  <a:srgbClr val="9090A8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9090A8"/>
                </a:solidFill>
                <a:latin typeface="Calibri"/>
              </a:rPr>
              <a:t> 81.2% best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4572000"/>
            <a:ext cx="2651760" cy="384048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4599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A8"/>
                </a:solidFill>
                <a:latin typeface="Calibri"/>
              </a:rPr>
              <a:t>7,043 customers analysed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4572000"/>
            <a:ext cx="2286000" cy="384048"/>
          </a:xfrm>
          <a:prstGeom prst="rect">
            <a:avLst/>
          </a:prstGeom>
          <a:solidFill>
            <a:srgbClr val="12121E"/>
          </a:solidFill>
          <a:ln w="6350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459943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A8"/>
                </a:solidFill>
                <a:latin typeface="Calibri"/>
              </a:rPr>
              <a:t>3 ML algorithms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1355</Words>
  <Application>Microsoft Office PowerPoint</Application>
  <PresentationFormat>Widescreen</PresentationFormat>
  <Paragraphs>234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Idan Arbel</dc:creator>
  <cp:lastModifiedBy>Idan Arbel</cp:lastModifiedBy>
  <cp:revision>5</cp:revision>
  <dcterms:created xsi:type="dcterms:W3CDTF">2026-05-14T13:34:17Z</dcterms:created>
  <dcterms:modified xsi:type="dcterms:W3CDTF">2026-05-21T09:58:53Z</dcterms:modified>
</cp:coreProperties>
</file>